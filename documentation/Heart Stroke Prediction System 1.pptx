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56" r:id="rId2"/>
    <p:sldId id="257" r:id="rId3"/>
    <p:sldId id="258" r:id="rId4"/>
    <p:sldId id="260" r:id="rId5"/>
    <p:sldId id="259" r:id="rId6"/>
    <p:sldId id="262" r:id="rId7"/>
    <p:sldId id="263" r:id="rId8"/>
    <p:sldId id="268" r:id="rId9"/>
    <p:sldId id="270" r:id="rId10"/>
    <p:sldId id="269"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60" autoAdjust="0"/>
    <p:restoredTop sz="94660"/>
  </p:normalViewPr>
  <p:slideViewPr>
    <p:cSldViewPr>
      <p:cViewPr varScale="1">
        <p:scale>
          <a:sx n="78" d="100"/>
          <a:sy n="78" d="100"/>
        </p:scale>
        <p:origin x="883" y="62"/>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6/15/2025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6/15/2025</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D9D9D9"/>
            </a:gs>
            <a:gs pos="100000">
              <a:schemeClr val="bg1"/>
            </a:gs>
          </a:gsLst>
          <a:lin ang="81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828800"/>
            <a:ext cx="4098175" cy="3177380"/>
          </a:xfrm>
        </p:spPr>
        <p:txBody>
          <a:bodyPr anchor="b">
            <a:normAutofit/>
          </a:bodyPr>
          <a:lstStyle>
            <a:lvl1pPr algn="l">
              <a:lnSpc>
                <a:spcPct val="80000"/>
              </a:lnSpc>
              <a:defRPr sz="5400">
                <a:solidFill>
                  <a:schemeClr val="accent1"/>
                </a:solidFill>
              </a:defRPr>
            </a:lvl1pPr>
          </a:lstStyle>
          <a:p>
            <a:r>
              <a:rPr lang="en-US"/>
              <a:t>Click to edit Master title style</a:t>
            </a:r>
            <a:endParaRPr/>
          </a:p>
        </p:txBody>
      </p:sp>
      <p:sp>
        <p:nvSpPr>
          <p:cNvPr id="3" name="Subtitle 2"/>
          <p:cNvSpPr>
            <a:spLocks noGrp="1"/>
          </p:cNvSpPr>
          <p:nvPr>
            <p:ph type="subTitle" idx="1"/>
          </p:nvPr>
        </p:nvSpPr>
        <p:spPr>
          <a:xfrm>
            <a:off x="626225" y="5181600"/>
            <a:ext cx="4098175" cy="685800"/>
          </a:xfrm>
        </p:spPr>
        <p:txBody>
          <a:bodyPr>
            <a:normAutofit/>
          </a:bodyPr>
          <a:lstStyle>
            <a:lvl1pPr marL="0" indent="0" algn="l">
              <a:buNone/>
              <a:defRPr sz="2000" cap="all"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188688" y="-1"/>
            <a:ext cx="7000137"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6/15/2025</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chemeClr val="accent1"/>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7" name="Rectangle 6" descr="Rectangle"/>
          <p:cNvSpPr/>
          <p:nvPr/>
        </p:nvSpPr>
        <p:spPr>
          <a:xfrm>
            <a:off x="265112" y="228600"/>
            <a:ext cx="1165860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66800" y="1828800"/>
            <a:ext cx="7772400" cy="3177380"/>
          </a:xfrm>
        </p:spPr>
        <p:txBody>
          <a:bodyPr anchor="b">
            <a:normAutofit/>
          </a:bodyPr>
          <a:lstStyle>
            <a:lvl1pPr>
              <a:lnSpc>
                <a:spcPct val="80000"/>
              </a:lnSpc>
              <a:defRPr sz="5400"/>
            </a:lvl1pPr>
          </a:lstStyle>
          <a:p>
            <a:r>
              <a:rPr lang="en-US"/>
              <a:t>Click to edit Master title style</a:t>
            </a:r>
            <a:endParaRPr/>
          </a:p>
        </p:txBody>
      </p:sp>
      <p:sp>
        <p:nvSpPr>
          <p:cNvPr id="3" name="Text Placeholder 2"/>
          <p:cNvSpPr>
            <a:spLocks noGrp="1"/>
          </p:cNvSpPr>
          <p:nvPr>
            <p:ph type="body" idx="1"/>
          </p:nvPr>
        </p:nvSpPr>
        <p:spPr>
          <a:xfrm>
            <a:off x="1066800" y="5181600"/>
            <a:ext cx="7772400" cy="685800"/>
          </a:xfrm>
        </p:spPr>
        <p:txBody>
          <a:bodyPr>
            <a:normAutofit/>
          </a:bodyPr>
          <a:lstStyle>
            <a:lvl1pPr marL="0" indent="0">
              <a:buNone/>
              <a:defRPr sz="2000" cap="all" baseline="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68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3246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7CC0096-1860-4642-9CD2-0079EA5E7CD1}" type="datetimeFigureOut">
              <a:rPr lang="en-US"/>
              <a:t>6/15/2025</a:t>
            </a:fld>
            <a:endParaRPr/>
          </a:p>
        </p:txBody>
      </p:sp>
      <p:sp>
        <p:nvSpPr>
          <p:cNvPr id="7" name="Slide Number Placeholder 6"/>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0668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68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3246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7CC0096-1860-4642-9CD2-0079EA5E7CD1}" type="datetimeFigureOut">
              <a:rPr lang="en-US"/>
              <a:t>6/15/2025</a:t>
            </a:fld>
            <a:endParaRPr/>
          </a:p>
        </p:txBody>
      </p:sp>
      <p:sp>
        <p:nvSpPr>
          <p:cNvPr id="9" name="Slide Number Placeholder 8"/>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7CC0096-1860-4642-9CD2-0079EA5E7CD1}" type="datetimeFigureOut">
              <a:rPr lang="en-US"/>
              <a:t>6/15/2025</a:t>
            </a:fld>
            <a:endParaRPr/>
          </a:p>
        </p:txBody>
      </p:sp>
      <p:sp>
        <p:nvSpPr>
          <p:cNvPr id="5" name="Slide Number Placeholder 4"/>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37CC0096-1860-4642-9CD2-0079EA5E7CD1}" type="datetimeFigureOut">
              <a:rPr lang="en-US"/>
              <a:t>6/15/2025</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2700" y="3200400"/>
            <a:ext cx="3932237" cy="1752600"/>
          </a:xfrm>
        </p:spPr>
        <p:txBody>
          <a:bodyPr anchor="b">
            <a:normAutofit/>
          </a:bodyPr>
          <a:lstStyle>
            <a:lvl1pPr>
              <a:defRPr sz="3600"/>
            </a:lvl1pPr>
          </a:lstStyle>
          <a:p>
            <a:r>
              <a:rPr lang="en-US"/>
              <a:t>Click to edit Master title style</a:t>
            </a:r>
            <a:endParaRPr/>
          </a:p>
        </p:txBody>
      </p:sp>
      <p:sp>
        <p:nvSpPr>
          <p:cNvPr id="3" name="Content Placeholder 2"/>
          <p:cNvSpPr>
            <a:spLocks noGrp="1"/>
          </p:cNvSpPr>
          <p:nvPr>
            <p:ph idx="1"/>
          </p:nvPr>
        </p:nvSpPr>
        <p:spPr>
          <a:xfrm>
            <a:off x="609600" y="457201"/>
            <a:ext cx="5943600"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32699" y="5029200"/>
            <a:ext cx="3932237"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5240" y="3200400"/>
            <a:ext cx="3932237" cy="1752600"/>
          </a:xfrm>
        </p:spPr>
        <p:txBody>
          <a:bodyPr anchor="b">
            <a:normAutofit/>
          </a:bodyPr>
          <a:lstStyle>
            <a:lvl1pPr>
              <a:defRPr sz="360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 y="0"/>
            <a:ext cx="7008810" cy="6857999"/>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7635240" y="5029200"/>
            <a:ext cx="3932237" cy="137464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6/15/2025</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9982200" y="0"/>
            <a:ext cx="220980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058399" y="457201"/>
            <a:ext cx="2057401" cy="59436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09600" y="457200"/>
            <a:ext cx="9067800" cy="5943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6/15/2025</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12188824"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066800" y="99220"/>
            <a:ext cx="10058400" cy="1325563"/>
          </a:xfrm>
          <a:prstGeom prst="rect">
            <a:avLst/>
          </a:prstGeom>
        </p:spPr>
        <p:txBody>
          <a:bodyPr vert="horz" lIns="91440" tIns="45720" rIns="9144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1524000" y="1828799"/>
            <a:ext cx="9144000" cy="4572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6800" y="6481760"/>
            <a:ext cx="7848600" cy="239715"/>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9067800" y="6465885"/>
            <a:ext cx="1066800" cy="239715"/>
          </a:xfrm>
          <a:prstGeom prst="rect">
            <a:avLst/>
          </a:prstGeom>
        </p:spPr>
        <p:txBody>
          <a:bodyPr vert="horz" lIns="91440" tIns="45720" rIns="91440" bIns="45720" rtlCol="0" anchor="ctr"/>
          <a:lstStyle>
            <a:lvl1pPr algn="r">
              <a:defRPr sz="1100">
                <a:solidFill>
                  <a:schemeClr val="tx1"/>
                </a:solidFill>
              </a:defRPr>
            </a:lvl1pPr>
          </a:lstStyle>
          <a:p>
            <a:fld id="{37CC0096-1860-4642-9CD2-0079EA5E7CD1}" type="datetimeFigureOut">
              <a:rPr lang="en-US" smtClean="0"/>
              <a:pPr/>
              <a:t>6/15/2025</a:t>
            </a:fld>
            <a:endParaRPr lang="en-US" dirty="0"/>
          </a:p>
        </p:txBody>
      </p:sp>
      <p:sp>
        <p:nvSpPr>
          <p:cNvPr id="6" name="Slide Number Placeholder 5"/>
          <p:cNvSpPr>
            <a:spLocks noGrp="1"/>
          </p:cNvSpPr>
          <p:nvPr>
            <p:ph type="sldNum" sz="quarter" idx="4"/>
          </p:nvPr>
        </p:nvSpPr>
        <p:spPr>
          <a:xfrm>
            <a:off x="10287000" y="6481760"/>
            <a:ext cx="838200" cy="239715"/>
          </a:xfrm>
          <a:prstGeom prst="rect">
            <a:avLst/>
          </a:prstGeom>
        </p:spPr>
        <p:txBody>
          <a:bodyPr vert="horz" lIns="91440" tIns="45720" rIns="91440" bIns="45720" rtlCol="0" anchor="ctr"/>
          <a:lstStyle>
            <a:lvl1pPr algn="r">
              <a:defRPr sz="110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hyperlink" Target="https://drawing.rjuuc.edu.np/read/healing-heart-drawing.html" TargetMode="External"/><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07368" y="2132856"/>
            <a:ext cx="4317033" cy="2016224"/>
          </a:xfrm>
        </p:spPr>
        <p:txBody>
          <a:bodyPr>
            <a:normAutofit fontScale="90000"/>
          </a:bodyPr>
          <a:lstStyle/>
          <a:p>
            <a:r>
              <a:rPr lang="en-US" b="1" dirty="0">
                <a:latin typeface="Times New Roman" panose="02020603050405020304" pitchFamily="18" charset="0"/>
                <a:cs typeface="Times New Roman" panose="02020603050405020304" pitchFamily="18" charset="0"/>
              </a:rPr>
              <a:t>Heart Stroke Prediction System</a:t>
            </a:r>
          </a:p>
        </p:txBody>
      </p:sp>
      <p:sp>
        <p:nvSpPr>
          <p:cNvPr id="3" name="Subtitle 2"/>
          <p:cNvSpPr>
            <a:spLocks noGrp="1"/>
          </p:cNvSpPr>
          <p:nvPr>
            <p:ph type="subTitle" idx="1"/>
          </p:nvPr>
        </p:nvSpPr>
        <p:spPr>
          <a:xfrm>
            <a:off x="2279575" y="5229200"/>
            <a:ext cx="2225967" cy="288032"/>
          </a:xfrm>
        </p:spPr>
        <p:txBody>
          <a:bodyPr>
            <a:normAutofit fontScale="85000" lnSpcReduction="20000"/>
          </a:bodyPr>
          <a:lstStyle/>
          <a:p>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Team Members</a:t>
            </a:r>
            <a:r>
              <a:rPr lang="en-US" dirty="0"/>
              <a:t>:</a:t>
            </a:r>
          </a:p>
        </p:txBody>
      </p:sp>
      <p:pic>
        <p:nvPicPr>
          <p:cNvPr id="4" name="Picture 3">
            <a:extLst>
              <a:ext uri="{FF2B5EF4-FFF2-40B4-BE49-F238E27FC236}">
                <a16:creationId xmlns:a16="http://schemas.microsoft.com/office/drawing/2014/main" id="{8385F59F-D2FB-24C6-1FEB-CBB391BF3C6E}"/>
              </a:ext>
            </a:extLst>
          </p:cNvPr>
          <p:cNvPicPr>
            <a:picLocks noChangeAspect="1"/>
          </p:cNvPicPr>
          <p:nvPr/>
        </p:nvPicPr>
        <p:blipFill>
          <a:blip r:embed="rId2"/>
          <a:stretch>
            <a:fillRect/>
          </a:stretch>
        </p:blipFill>
        <p:spPr>
          <a:xfrm>
            <a:off x="1449760" y="442599"/>
            <a:ext cx="2232248" cy="117399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5" name="TextBox 4">
            <a:extLst>
              <a:ext uri="{FF2B5EF4-FFF2-40B4-BE49-F238E27FC236}">
                <a16:creationId xmlns:a16="http://schemas.microsoft.com/office/drawing/2014/main" id="{0DD2FECB-AF9B-A2EF-0363-448C2C8073F2}"/>
              </a:ext>
            </a:extLst>
          </p:cNvPr>
          <p:cNvSpPr txBox="1"/>
          <p:nvPr/>
        </p:nvSpPr>
        <p:spPr>
          <a:xfrm>
            <a:off x="2279575" y="5589240"/>
            <a:ext cx="2586007" cy="954107"/>
          </a:xfrm>
          <a:prstGeom prst="rect">
            <a:avLst/>
          </a:prstGeom>
          <a:noFill/>
        </p:spPr>
        <p:txBody>
          <a:bodyPr wrap="square" rtlCol="0">
            <a:spAutoFit/>
          </a:bodyPr>
          <a:lstStyle/>
          <a:p>
            <a:r>
              <a:rPr lang="en-US" sz="1400" dirty="0" err="1">
                <a:solidFill>
                  <a:schemeClr val="tx1">
                    <a:lumMod val="50000"/>
                    <a:lumOff val="50000"/>
                  </a:schemeClr>
                </a:solidFill>
              </a:rPr>
              <a:t>D.Pavan</a:t>
            </a:r>
            <a:r>
              <a:rPr lang="en-US" sz="1400" dirty="0">
                <a:solidFill>
                  <a:schemeClr val="tx1">
                    <a:lumMod val="50000"/>
                    <a:lumOff val="50000"/>
                  </a:schemeClr>
                </a:solidFill>
              </a:rPr>
              <a:t> Kumar (22J21A0538)</a:t>
            </a:r>
          </a:p>
          <a:p>
            <a:r>
              <a:rPr lang="en-US" sz="1400" dirty="0" err="1">
                <a:solidFill>
                  <a:schemeClr val="tx1">
                    <a:lumMod val="50000"/>
                    <a:lumOff val="50000"/>
                  </a:schemeClr>
                </a:solidFill>
              </a:rPr>
              <a:t>B.Sanjay</a:t>
            </a:r>
            <a:r>
              <a:rPr lang="en-US" sz="1400" dirty="0">
                <a:solidFill>
                  <a:schemeClr val="tx1">
                    <a:lumMod val="50000"/>
                    <a:lumOff val="50000"/>
                  </a:schemeClr>
                </a:solidFill>
              </a:rPr>
              <a:t> (22J21A0518)</a:t>
            </a:r>
          </a:p>
          <a:p>
            <a:r>
              <a:rPr lang="en-US" sz="1400" dirty="0" err="1">
                <a:solidFill>
                  <a:schemeClr val="tx1">
                    <a:lumMod val="50000"/>
                    <a:lumOff val="50000"/>
                  </a:schemeClr>
                </a:solidFill>
              </a:rPr>
              <a:t>C.Siri</a:t>
            </a:r>
            <a:r>
              <a:rPr lang="en-US" sz="1400" dirty="0">
                <a:solidFill>
                  <a:schemeClr val="tx1">
                    <a:lumMod val="50000"/>
                    <a:lumOff val="50000"/>
                  </a:schemeClr>
                </a:solidFill>
              </a:rPr>
              <a:t> Goud (22J21A0530)</a:t>
            </a:r>
          </a:p>
          <a:p>
            <a:r>
              <a:rPr lang="en-US" sz="1400" dirty="0" err="1">
                <a:solidFill>
                  <a:schemeClr val="tx1">
                    <a:lumMod val="50000"/>
                    <a:lumOff val="50000"/>
                  </a:schemeClr>
                </a:solidFill>
              </a:rPr>
              <a:t>G.Pooja</a:t>
            </a:r>
            <a:r>
              <a:rPr lang="en-US" sz="1400" dirty="0">
                <a:solidFill>
                  <a:schemeClr val="tx1">
                    <a:lumMod val="50000"/>
                    <a:lumOff val="50000"/>
                  </a:schemeClr>
                </a:solidFill>
              </a:rPr>
              <a:t> (22J21A0553)</a:t>
            </a:r>
            <a:endParaRPr lang="en-IN" sz="1400" dirty="0">
              <a:solidFill>
                <a:schemeClr val="tx1">
                  <a:lumMod val="50000"/>
                  <a:lumOff val="50000"/>
                </a:schemeClr>
              </a:solidFill>
            </a:endParaRPr>
          </a:p>
        </p:txBody>
      </p:sp>
      <p:sp>
        <p:nvSpPr>
          <p:cNvPr id="6" name="Subtitle 2">
            <a:extLst>
              <a:ext uri="{FF2B5EF4-FFF2-40B4-BE49-F238E27FC236}">
                <a16:creationId xmlns:a16="http://schemas.microsoft.com/office/drawing/2014/main" id="{D1377046-FE6A-96BE-7E34-3ADCE0A3CA55}"/>
              </a:ext>
            </a:extLst>
          </p:cNvPr>
          <p:cNvSpPr txBox="1">
            <a:spLocks/>
          </p:cNvSpPr>
          <p:nvPr/>
        </p:nvSpPr>
        <p:spPr>
          <a:xfrm>
            <a:off x="0" y="5224171"/>
            <a:ext cx="1949847" cy="28803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800"/>
              </a:spcBef>
              <a:buSzPct val="100000"/>
              <a:buFont typeface="Arial" pitchFamily="34" charset="0"/>
              <a:buNone/>
              <a:defRPr sz="2000" kern="1200" cap="all" baseline="0">
                <a:solidFill>
                  <a:schemeClr val="tx1">
                    <a:lumMod val="50000"/>
                    <a:lumOff val="50000"/>
                  </a:schemeClr>
                </a:solidFill>
                <a:latin typeface="+mn-lt"/>
                <a:ea typeface="+mn-ea"/>
                <a:cs typeface="+mn-cs"/>
              </a:defRPr>
            </a:lvl1pPr>
            <a:lvl2pPr marL="457200" indent="0" algn="ctr" defTabSz="914400" rtl="0" eaLnBrk="1" latinLnBrk="0" hangingPunct="1">
              <a:lnSpc>
                <a:spcPct val="90000"/>
              </a:lnSpc>
              <a:spcBef>
                <a:spcPts val="600"/>
              </a:spcBef>
              <a:buSzPct val="100000"/>
              <a:buFont typeface="Arial" pitchFamily="34" charset="0"/>
              <a:buNone/>
              <a:defRPr sz="20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600"/>
              </a:spcBef>
              <a:buSzPct val="100000"/>
              <a:buFont typeface="Arial" pitchFamily="34" charset="0"/>
              <a:buNone/>
              <a:defRPr sz="18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600"/>
              </a:spcBef>
              <a:buSzPct val="100000"/>
              <a:buFont typeface="Arial" pitchFamily="34" charset="0"/>
              <a:buNone/>
              <a:defRPr sz="16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600"/>
              </a:spcBef>
              <a:buSzPct val="100000"/>
              <a:buFont typeface="Arial" pitchFamily="34" charset="0"/>
              <a:buNone/>
              <a:defRPr sz="16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400"/>
              </a:spcBef>
              <a:buSzPct val="100000"/>
              <a:buFont typeface="Arial" pitchFamily="34" charset="0"/>
              <a:buNone/>
              <a:defRPr sz="16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400"/>
              </a:spcBef>
              <a:buSzPct val="100000"/>
              <a:buFont typeface="Arial" pitchFamily="34" charset="0"/>
              <a:buNone/>
              <a:defRPr sz="16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400"/>
              </a:spcBef>
              <a:buSzPct val="100000"/>
              <a:buFont typeface="Arial" pitchFamily="34" charset="0"/>
              <a:buNone/>
              <a:defRPr sz="16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400"/>
              </a:spcBef>
              <a:buSzPct val="100000"/>
              <a:buFont typeface="Arial" pitchFamily="34" charset="0"/>
              <a:buNone/>
              <a:defRPr sz="1600" kern="1200">
                <a:solidFill>
                  <a:schemeClr val="tx1">
                    <a:lumMod val="75000"/>
                    <a:lumOff val="25000"/>
                  </a:schemeClr>
                </a:solidFill>
                <a:latin typeface="+mn-lt"/>
                <a:ea typeface="+mn-ea"/>
                <a:cs typeface="+mn-cs"/>
              </a:defRPr>
            </a:lvl9pPr>
          </a:lstStyle>
          <a:p>
            <a:r>
              <a:rPr lang="en-US" sz="1600" dirty="0"/>
              <a:t>  </a:t>
            </a:r>
            <a:r>
              <a:rPr lang="en-US" sz="1600" dirty="0">
                <a:solidFill>
                  <a:schemeClr val="tx1">
                    <a:lumMod val="65000"/>
                    <a:lumOff val="35000"/>
                  </a:schemeClr>
                </a:solidFill>
                <a:latin typeface="Times New Roman" panose="02020603050405020304" pitchFamily="18" charset="0"/>
                <a:cs typeface="Times New Roman" panose="02020603050405020304" pitchFamily="18" charset="0"/>
              </a:rPr>
              <a:t>supervisor:</a:t>
            </a:r>
          </a:p>
        </p:txBody>
      </p:sp>
      <p:sp>
        <p:nvSpPr>
          <p:cNvPr id="7" name="TextBox 6">
            <a:extLst>
              <a:ext uri="{FF2B5EF4-FFF2-40B4-BE49-F238E27FC236}">
                <a16:creationId xmlns:a16="http://schemas.microsoft.com/office/drawing/2014/main" id="{F9CD59D4-48E6-E02A-4E23-3749FCC006C0}"/>
              </a:ext>
            </a:extLst>
          </p:cNvPr>
          <p:cNvSpPr txBox="1"/>
          <p:nvPr/>
        </p:nvSpPr>
        <p:spPr>
          <a:xfrm>
            <a:off x="32557" y="5590290"/>
            <a:ext cx="1949847" cy="307777"/>
          </a:xfrm>
          <a:prstGeom prst="rect">
            <a:avLst/>
          </a:prstGeom>
          <a:noFill/>
        </p:spPr>
        <p:txBody>
          <a:bodyPr wrap="square" rtlCol="0">
            <a:spAutoFit/>
          </a:bodyPr>
          <a:lstStyle/>
          <a:p>
            <a:r>
              <a:rPr lang="en-US" sz="1400" dirty="0" err="1">
                <a:solidFill>
                  <a:schemeClr val="tx1">
                    <a:lumMod val="50000"/>
                    <a:lumOff val="50000"/>
                  </a:schemeClr>
                </a:solidFill>
              </a:rPr>
              <a:t>Mr.L.Nagender</a:t>
            </a:r>
            <a:r>
              <a:rPr lang="en-US" sz="1400" dirty="0">
                <a:solidFill>
                  <a:schemeClr val="tx1">
                    <a:lumMod val="50000"/>
                    <a:lumOff val="50000"/>
                  </a:schemeClr>
                </a:solidFill>
              </a:rPr>
              <a:t> Kumar.</a:t>
            </a:r>
            <a:endParaRPr lang="en-IN" sz="1400" dirty="0">
              <a:solidFill>
                <a:schemeClr val="tx1">
                  <a:lumMod val="50000"/>
                  <a:lumOff val="50000"/>
                </a:schemeClr>
              </a:solidFill>
            </a:endParaRPr>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Field of study</a:t>
            </a:r>
          </a:p>
        </p:txBody>
      </p:sp>
      <p:sp>
        <p:nvSpPr>
          <p:cNvPr id="10" name="TextBox 9">
            <a:extLst>
              <a:ext uri="{FF2B5EF4-FFF2-40B4-BE49-F238E27FC236}">
                <a16:creationId xmlns:a16="http://schemas.microsoft.com/office/drawing/2014/main" id="{369A5A96-58D1-2AE4-D73E-F32AEFE46F29}"/>
              </a:ext>
            </a:extLst>
          </p:cNvPr>
          <p:cNvSpPr txBox="1"/>
          <p:nvPr/>
        </p:nvSpPr>
        <p:spPr>
          <a:xfrm>
            <a:off x="1061884" y="2996952"/>
            <a:ext cx="9781728" cy="3631763"/>
          </a:xfrm>
          <a:prstGeom prst="rect">
            <a:avLst/>
          </a:prstGeom>
          <a:noFill/>
        </p:spPr>
        <p:txBody>
          <a:bodyPr wrap="square" rtlCol="0">
            <a:spAutoFit/>
          </a:bodyPr>
          <a:lstStyle/>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Domain:</a:t>
            </a:r>
          </a:p>
          <a:p>
            <a:pPr marL="742950" lvl="1" indent="-285750">
              <a:buFont typeface="Arial" panose="020B0604020202020204" pitchFamily="34" charset="0"/>
              <a:buChar char="•"/>
            </a:pPr>
            <a:r>
              <a:rPr lang="en-US" sz="2000" b="0" i="0" dirty="0">
                <a:solidFill>
                  <a:srgbClr val="001D35"/>
                </a:solidFill>
                <a:effectLst/>
                <a:latin typeface="Times New Roman" panose="02020603050405020304" pitchFamily="18" charset="0"/>
                <a:cs typeface="Times New Roman" panose="02020603050405020304" pitchFamily="18" charset="0"/>
              </a:rPr>
              <a:t>The domain for </a:t>
            </a:r>
            <a:r>
              <a:rPr lang="en-US" sz="2000" dirty="0">
                <a:solidFill>
                  <a:srgbClr val="001D35"/>
                </a:solidFill>
                <a:latin typeface="Times New Roman" panose="02020603050405020304" pitchFamily="18" charset="0"/>
                <a:cs typeface="Times New Roman" panose="02020603050405020304" pitchFamily="18" charset="0"/>
              </a:rPr>
              <a:t>H</a:t>
            </a:r>
            <a:r>
              <a:rPr lang="en-US" sz="2000" b="0" i="0" dirty="0">
                <a:solidFill>
                  <a:srgbClr val="001D35"/>
                </a:solidFill>
                <a:effectLst/>
                <a:latin typeface="Times New Roman" panose="02020603050405020304" pitchFamily="18" charset="0"/>
                <a:cs typeface="Times New Roman" panose="02020603050405020304" pitchFamily="18" charset="0"/>
              </a:rPr>
              <a:t>eart Stroke Prediction encompasses several areas, including demographic data, clinical information, laboratory results, and medical history. These factors are used to build predictive models that identify individuals at risk of developing heart disease. </a:t>
            </a:r>
          </a:p>
          <a:p>
            <a:endParaRPr lang="en-US" dirty="0">
              <a:solidFill>
                <a:srgbClr val="001D35"/>
              </a:solidFill>
            </a:endParaRPr>
          </a:p>
          <a:p>
            <a:endParaRPr lang="en-US" b="1" dirty="0">
              <a:solidFill>
                <a:srgbClr val="001D35"/>
              </a:solidFill>
            </a:endParaRPr>
          </a:p>
          <a:p>
            <a:pPr marL="742950" lvl="1" indent="-285750">
              <a:buFont typeface="Arial" panose="020B0604020202020204" pitchFamily="34" charset="0"/>
              <a:buChar char="•"/>
            </a:pPr>
            <a:endParaRPr lang="en-US" b="1" dirty="0">
              <a:solidFill>
                <a:srgbClr val="001D35"/>
              </a:solidFill>
            </a:endParaRPr>
          </a:p>
          <a:p>
            <a:pPr marL="742950" lvl="1" indent="-285750">
              <a:buFont typeface="Arial" panose="020B0604020202020204" pitchFamily="34" charset="0"/>
              <a:buChar char="•"/>
            </a:pPr>
            <a:endParaRPr lang="en-US" b="0" i="0" dirty="0">
              <a:solidFill>
                <a:srgbClr val="001D35"/>
              </a:solidFill>
              <a:effectLst/>
            </a:endParaRPr>
          </a:p>
          <a:p>
            <a:pPr marL="285750" indent="-285750">
              <a:buFont typeface="Arial" panose="020B0604020202020204" pitchFamily="34" charset="0"/>
              <a:buChar char="•"/>
            </a:pPr>
            <a:endParaRPr lang="en-US" dirty="0"/>
          </a:p>
          <a:p>
            <a:endParaRPr lang="en-US" dirty="0"/>
          </a:p>
          <a:p>
            <a:endParaRPr lang="en-US" dirty="0"/>
          </a:p>
        </p:txBody>
      </p:sp>
    </p:spTree>
    <p:extLst>
      <p:ext uri="{BB962C8B-B14F-4D97-AF65-F5344CB8AC3E}">
        <p14:creationId xmlns:p14="http://schemas.microsoft.com/office/powerpoint/2010/main" val="177296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Abstract</a:t>
            </a:r>
          </a:p>
        </p:txBody>
      </p:sp>
      <p:sp>
        <p:nvSpPr>
          <p:cNvPr id="7" name="Content Placeholder 6">
            <a:extLst>
              <a:ext uri="{FF2B5EF4-FFF2-40B4-BE49-F238E27FC236}">
                <a16:creationId xmlns:a16="http://schemas.microsoft.com/office/drawing/2014/main" id="{06CD00B2-17F0-57FA-F09A-B1822BC4993F}"/>
              </a:ext>
            </a:extLst>
          </p:cNvPr>
          <p:cNvSpPr>
            <a:spLocks noGrp="1"/>
          </p:cNvSpPr>
          <p:nvPr>
            <p:ph idx="1"/>
          </p:nvPr>
        </p:nvSpPr>
        <p:spPr>
          <a:xfrm>
            <a:off x="1066800" y="1916832"/>
            <a:ext cx="10573816" cy="4572001"/>
          </a:xfrm>
        </p:spPr>
        <p:txBody>
          <a:bodyPr>
            <a:normAutofit/>
          </a:bodyPr>
          <a:lstStyle/>
          <a:p>
            <a:pPr marL="0" indent="0">
              <a:buNone/>
            </a:pPr>
            <a:r>
              <a:rPr lang="en-US" sz="2000" b="0" i="0" dirty="0">
                <a:solidFill>
                  <a:srgbClr val="001D35"/>
                </a:solidFill>
                <a:effectLst/>
                <a:latin typeface="Times New Roman" panose="02020603050405020304" pitchFamily="18" charset="0"/>
                <a:cs typeface="Times New Roman" panose="02020603050405020304" pitchFamily="18" charset="0"/>
              </a:rPr>
              <a:t>This abstract outlines a Heart Stroke </a:t>
            </a:r>
            <a:r>
              <a:rPr lang="en-US" sz="2000" dirty="0">
                <a:solidFill>
                  <a:srgbClr val="001D35"/>
                </a:solidFill>
                <a:latin typeface="Times New Roman" panose="02020603050405020304" pitchFamily="18" charset="0"/>
                <a:cs typeface="Times New Roman" panose="02020603050405020304" pitchFamily="18" charset="0"/>
              </a:rPr>
              <a:t>P</a:t>
            </a:r>
            <a:r>
              <a:rPr lang="en-US" sz="2000" b="0" i="0" dirty="0">
                <a:solidFill>
                  <a:srgbClr val="001D35"/>
                </a:solidFill>
                <a:effectLst/>
                <a:latin typeface="Times New Roman" panose="02020603050405020304" pitchFamily="18" charset="0"/>
                <a:cs typeface="Times New Roman" panose="02020603050405020304" pitchFamily="18" charset="0"/>
              </a:rPr>
              <a:t>rediction system that leverages machine learning to accurately assess the likelihood of an individual developing heart disease based on their medical history. The system utilizes algorithms like logistic regression and KNN, demonstrating its ability to effectively classify patients and improve prediction accuracy compared to traditional methods.</a:t>
            </a:r>
          </a:p>
          <a:p>
            <a:pPr marL="0" indent="0">
              <a:buNone/>
            </a:pPr>
            <a:r>
              <a:rPr lang="en-US" sz="2000" b="1" i="0" dirty="0">
                <a:solidFill>
                  <a:srgbClr val="001D35"/>
                </a:solidFill>
                <a:effectLst/>
                <a:latin typeface="Times New Roman" panose="02020603050405020304" pitchFamily="18" charset="0"/>
                <a:cs typeface="Times New Roman" panose="02020603050405020304" pitchFamily="18" charset="0"/>
              </a:rPr>
              <a:t>Key points about the heart disease prediction system:</a:t>
            </a:r>
          </a:p>
          <a:p>
            <a:r>
              <a:rPr lang="en-US" sz="2000" b="1" i="0" dirty="0">
                <a:solidFill>
                  <a:srgbClr val="001D35"/>
                </a:solidFill>
                <a:effectLst/>
                <a:latin typeface="Times New Roman" panose="02020603050405020304" pitchFamily="18" charset="0"/>
                <a:cs typeface="Times New Roman" panose="02020603050405020304" pitchFamily="18" charset="0"/>
              </a:rPr>
              <a:t>Focus: </a:t>
            </a:r>
            <a:r>
              <a:rPr lang="en-US" sz="2000" i="0" dirty="0">
                <a:solidFill>
                  <a:srgbClr val="001D35"/>
                </a:solidFill>
                <a:effectLst/>
                <a:latin typeface="Times New Roman" panose="02020603050405020304" pitchFamily="18" charset="0"/>
                <a:cs typeface="Times New Roman" panose="02020603050405020304" pitchFamily="18" charset="0"/>
              </a:rPr>
              <a:t>Predicting the risk of heart disease in individuals based on medical data.</a:t>
            </a:r>
          </a:p>
          <a:p>
            <a:r>
              <a:rPr lang="en-US" sz="2000" b="1" i="0" dirty="0">
                <a:solidFill>
                  <a:srgbClr val="001D35"/>
                </a:solidFill>
                <a:effectLst/>
                <a:latin typeface="Times New Roman" panose="02020603050405020304" pitchFamily="18" charset="0"/>
                <a:cs typeface="Times New Roman" panose="02020603050405020304" pitchFamily="18" charset="0"/>
              </a:rPr>
              <a:t>Methods:</a:t>
            </a:r>
          </a:p>
          <a:p>
            <a:pPr lvl="1"/>
            <a:r>
              <a:rPr lang="en-US" sz="1800" i="0" dirty="0">
                <a:solidFill>
                  <a:srgbClr val="001D35"/>
                </a:solidFill>
                <a:effectLst/>
                <a:latin typeface="Times New Roman" panose="02020603050405020304" pitchFamily="18" charset="0"/>
                <a:cs typeface="Times New Roman" panose="02020603050405020304" pitchFamily="18" charset="0"/>
              </a:rPr>
              <a:t>Employs machine learning algorithms like logistic regression and KNN.</a:t>
            </a:r>
          </a:p>
          <a:p>
            <a:pPr lvl="1"/>
            <a:r>
              <a:rPr lang="en-US" sz="1800" i="0" dirty="0">
                <a:solidFill>
                  <a:srgbClr val="001D35"/>
                </a:solidFill>
                <a:effectLst/>
                <a:latin typeface="Times New Roman" panose="02020603050405020304" pitchFamily="18" charset="0"/>
                <a:cs typeface="Times New Roman" panose="02020603050405020304" pitchFamily="18" charset="0"/>
              </a:rPr>
              <a:t>Demonstrates improved accuracy compared to other classifiers like Naive Bayes</a:t>
            </a:r>
          </a:p>
          <a:p>
            <a:pPr lvl="1"/>
            <a:r>
              <a:rPr lang="en-US" sz="1800" i="0" dirty="0">
                <a:solidFill>
                  <a:srgbClr val="001D35"/>
                </a:solidFill>
                <a:effectLst/>
                <a:latin typeface="Times New Roman" panose="02020603050405020304" pitchFamily="18" charset="0"/>
                <a:cs typeface="Times New Roman" panose="02020603050405020304" pitchFamily="18" charset="0"/>
              </a:rPr>
              <a:t>Utilizes patient medical history to make predictions.</a:t>
            </a:r>
          </a:p>
          <a:p>
            <a:r>
              <a:rPr lang="en-US" sz="2000" b="1" dirty="0">
                <a:solidFill>
                  <a:srgbClr val="001D35"/>
                </a:solidFill>
                <a:latin typeface="Times New Roman" panose="02020603050405020304" pitchFamily="18" charset="0"/>
                <a:cs typeface="Times New Roman" panose="02020603050405020304" pitchFamily="18" charset="0"/>
              </a:rPr>
              <a:t>Goal:</a:t>
            </a:r>
          </a:p>
          <a:p>
            <a:pPr lvl="1"/>
            <a:r>
              <a:rPr lang="en-US" sz="1800" i="0" dirty="0">
                <a:solidFill>
                  <a:srgbClr val="001D35"/>
                </a:solidFill>
                <a:effectLst/>
                <a:latin typeface="Times New Roman" panose="02020603050405020304" pitchFamily="18" charset="0"/>
                <a:cs typeface="Times New Roman" panose="02020603050405020304" pitchFamily="18" charset="0"/>
              </a:rPr>
              <a:t>To provide a reliable and efficient system for diagnosing and potentially preventing heart disease</a:t>
            </a:r>
          </a:p>
          <a:p>
            <a:pPr lvl="1"/>
            <a:endParaRPr lang="en-US" sz="1800" i="0" dirty="0">
              <a:solidFill>
                <a:srgbClr val="001D35"/>
              </a:solidFill>
              <a:effectLst/>
              <a:latin typeface="Times New Roman" panose="02020603050405020304" pitchFamily="18" charset="0"/>
              <a:cs typeface="Times New Roman" panose="02020603050405020304" pitchFamily="18" charset="0"/>
            </a:endParaRPr>
          </a:p>
          <a:p>
            <a:pPr lvl="1"/>
            <a:endParaRPr lang="en-US" sz="1800" b="1" i="0" dirty="0">
              <a:solidFill>
                <a:srgbClr val="001D35"/>
              </a:solidFill>
              <a:effectLst/>
              <a:latin typeface="Times New Roman" panose="02020603050405020304" pitchFamily="18" charset="0"/>
              <a:cs typeface="Times New Roman" panose="02020603050405020304" pitchFamily="18" charset="0"/>
            </a:endParaRPr>
          </a:p>
          <a:p>
            <a:endParaRPr lang="en-US" sz="2000" i="0" dirty="0">
              <a:solidFill>
                <a:srgbClr val="001D35"/>
              </a:solidFill>
              <a:effectLst/>
              <a:latin typeface="Times New Roman" panose="02020603050405020304" pitchFamily="18" charset="0"/>
              <a:cs typeface="Times New Roman" panose="02020603050405020304" pitchFamily="18" charset="0"/>
            </a:endParaRPr>
          </a:p>
          <a:p>
            <a:pPr marL="0" indent="0">
              <a:buNone/>
            </a:pPr>
            <a:endParaRPr lang="en-IN" sz="2000" dirty="0">
              <a:cs typeface="Times New Roman" panose="02020603050405020304" pitchFamily="18" charset="0"/>
            </a:endParaRPr>
          </a:p>
        </p:txBody>
      </p:sp>
    </p:spTree>
    <p:extLst>
      <p:ext uri="{BB962C8B-B14F-4D97-AF65-F5344CB8AC3E}">
        <p14:creationId xmlns:p14="http://schemas.microsoft.com/office/powerpoint/2010/main" val="1928620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Architecture</a:t>
            </a:r>
          </a:p>
        </p:txBody>
      </p:sp>
      <p:pic>
        <p:nvPicPr>
          <p:cNvPr id="4" name="Content Placeholder 3" descr="Database with solid fill">
            <a:extLst>
              <a:ext uri="{FF2B5EF4-FFF2-40B4-BE49-F238E27FC236}">
                <a16:creationId xmlns:a16="http://schemas.microsoft.com/office/drawing/2014/main" id="{80EEB54D-D5C6-553F-28D7-2672308897C9}"/>
              </a:ext>
            </a:extLst>
          </p:cNvPr>
          <p:cNvPicPr>
            <a:picLocks noGrp="1" noChangeAspect="1"/>
          </p:cNvPicPr>
          <p:nvPr>
            <p:ph sz="half" idx="2"/>
          </p:nvPr>
        </p:nvPicPr>
        <p:blipFill>
          <a:blip r:embed="rId2">
            <a:extLst>
              <a:ext uri="{96DAC541-7B7A-43D3-8B79-37D633B846F1}">
                <asvg:svgBlip xmlns:asvg="http://schemas.microsoft.com/office/drawing/2016/SVG/main" r:embed="rId3"/>
              </a:ext>
            </a:extLst>
          </a:blip>
          <a:stretch>
            <a:fillRect/>
          </a:stretch>
        </p:blipFill>
        <p:spPr>
          <a:xfrm>
            <a:off x="2377975" y="2101893"/>
            <a:ext cx="1069265" cy="1069265"/>
          </a:xfrm>
        </p:spPr>
      </p:pic>
      <p:pic>
        <p:nvPicPr>
          <p:cNvPr id="7" name="Graphic 6" descr="Arrow circle with solid fill">
            <a:extLst>
              <a:ext uri="{FF2B5EF4-FFF2-40B4-BE49-F238E27FC236}">
                <a16:creationId xmlns:a16="http://schemas.microsoft.com/office/drawing/2014/main" id="{2A59508C-1A10-BC33-985C-FAD3EB7DEFD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69191" y="2224016"/>
            <a:ext cx="845887" cy="845887"/>
          </a:xfrm>
          <a:prstGeom prst="rect">
            <a:avLst/>
          </a:prstGeom>
        </p:spPr>
      </p:pic>
      <p:pic>
        <p:nvPicPr>
          <p:cNvPr id="9" name="Graphic 8" descr="Checklist with solid fill">
            <a:extLst>
              <a:ext uri="{FF2B5EF4-FFF2-40B4-BE49-F238E27FC236}">
                <a16:creationId xmlns:a16="http://schemas.microsoft.com/office/drawing/2014/main" id="{23E40672-9AB1-A6F1-C28A-F015AFE40A6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80740" y="2256759"/>
            <a:ext cx="845884" cy="845884"/>
          </a:xfrm>
          <a:prstGeom prst="rect">
            <a:avLst/>
          </a:prstGeom>
        </p:spPr>
      </p:pic>
      <p:pic>
        <p:nvPicPr>
          <p:cNvPr id="11" name="Graphic 10" descr="List with solid fill">
            <a:extLst>
              <a:ext uri="{FF2B5EF4-FFF2-40B4-BE49-F238E27FC236}">
                <a16:creationId xmlns:a16="http://schemas.microsoft.com/office/drawing/2014/main" id="{BE8B8612-4119-EDFD-83C3-8F73C724D4C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760296" y="2262094"/>
            <a:ext cx="845884" cy="845884"/>
          </a:xfrm>
          <a:prstGeom prst="rect">
            <a:avLst/>
          </a:prstGeom>
        </p:spPr>
      </p:pic>
      <p:cxnSp>
        <p:nvCxnSpPr>
          <p:cNvPr id="13" name="Straight Arrow Connector 12">
            <a:extLst>
              <a:ext uri="{FF2B5EF4-FFF2-40B4-BE49-F238E27FC236}">
                <a16:creationId xmlns:a16="http://schemas.microsoft.com/office/drawing/2014/main" id="{B2FF7517-6116-3EE6-242E-CC5DFD87AB6D}"/>
              </a:ext>
            </a:extLst>
          </p:cNvPr>
          <p:cNvCxnSpPr/>
          <p:nvPr/>
        </p:nvCxnSpPr>
        <p:spPr>
          <a:xfrm>
            <a:off x="3563821" y="2646959"/>
            <a:ext cx="18722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293EE02-674E-6BF6-4B56-73F62293FD99}"/>
              </a:ext>
            </a:extLst>
          </p:cNvPr>
          <p:cNvCxnSpPr>
            <a:cxnSpLocks/>
          </p:cNvCxnSpPr>
          <p:nvPr/>
        </p:nvCxnSpPr>
        <p:spPr>
          <a:xfrm>
            <a:off x="6672064" y="2646959"/>
            <a:ext cx="15086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AAEC4366-EDB5-D514-44C9-42E2EFD906FD}"/>
              </a:ext>
            </a:extLst>
          </p:cNvPr>
          <p:cNvPicPr>
            <a:picLocks noChangeAspect="1"/>
          </p:cNvPicPr>
          <p:nvPr/>
        </p:nvPicPr>
        <p:blipFill>
          <a:blip r:embed="rId10"/>
          <a:srcRect l="1" r="2561" b="1569"/>
          <a:stretch/>
        </p:blipFill>
        <p:spPr>
          <a:xfrm>
            <a:off x="5585993" y="3799457"/>
            <a:ext cx="1012281" cy="1022581"/>
          </a:xfrm>
          <a:prstGeom prst="ellipse">
            <a:avLst/>
          </a:prstGeom>
          <a:ln>
            <a:noFill/>
          </a:ln>
          <a:effectLst>
            <a:softEdge rad="112500"/>
          </a:effectLst>
        </p:spPr>
      </p:pic>
      <p:cxnSp>
        <p:nvCxnSpPr>
          <p:cNvPr id="18" name="Connector: Elbow 17">
            <a:extLst>
              <a:ext uri="{FF2B5EF4-FFF2-40B4-BE49-F238E27FC236}">
                <a16:creationId xmlns:a16="http://schemas.microsoft.com/office/drawing/2014/main" id="{F643A83E-CE78-7AC6-CC2D-43111D3FBC2F}"/>
              </a:ext>
            </a:extLst>
          </p:cNvPr>
          <p:cNvCxnSpPr>
            <a:cxnSpLocks/>
          </p:cNvCxnSpPr>
          <p:nvPr/>
        </p:nvCxnSpPr>
        <p:spPr>
          <a:xfrm rot="10800000" flipV="1">
            <a:off x="7032104" y="3638840"/>
            <a:ext cx="1994520" cy="662987"/>
          </a:xfrm>
          <a:prstGeom prst="bentConnector3">
            <a:avLst>
              <a:gd name="adj1" fmla="val 21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859AA62D-A0F6-56E4-FE5B-DC465A1601C3}"/>
              </a:ext>
            </a:extLst>
          </p:cNvPr>
          <p:cNvPicPr>
            <a:picLocks noChangeAspect="1"/>
          </p:cNvPicPr>
          <p:nvPr/>
        </p:nvPicPr>
        <p:blipFill>
          <a:blip r:embed="rId11"/>
          <a:stretch>
            <a:fillRect/>
          </a:stretch>
        </p:blipFill>
        <p:spPr>
          <a:xfrm>
            <a:off x="2318548" y="5330598"/>
            <a:ext cx="1008109" cy="1008109"/>
          </a:xfrm>
          <a:prstGeom prst="rect">
            <a:avLst/>
          </a:prstGeom>
        </p:spPr>
      </p:pic>
      <p:pic>
        <p:nvPicPr>
          <p:cNvPr id="24" name="Picture 23">
            <a:extLst>
              <a:ext uri="{FF2B5EF4-FFF2-40B4-BE49-F238E27FC236}">
                <a16:creationId xmlns:a16="http://schemas.microsoft.com/office/drawing/2014/main" id="{1917616D-A8E6-8C23-388B-3ACE3B0C8108}"/>
              </a:ext>
            </a:extLst>
          </p:cNvPr>
          <p:cNvPicPr>
            <a:picLocks noChangeAspect="1"/>
          </p:cNvPicPr>
          <p:nvPr/>
        </p:nvPicPr>
        <p:blipFill>
          <a:blip r:embed="rId12"/>
          <a:stretch>
            <a:fillRect/>
          </a:stretch>
        </p:blipFill>
        <p:spPr>
          <a:xfrm>
            <a:off x="5585993" y="5344826"/>
            <a:ext cx="1108793" cy="1113927"/>
          </a:xfrm>
          <a:prstGeom prst="rect">
            <a:avLst/>
          </a:prstGeom>
        </p:spPr>
      </p:pic>
      <p:cxnSp>
        <p:nvCxnSpPr>
          <p:cNvPr id="26" name="Straight Arrow Connector 25">
            <a:extLst>
              <a:ext uri="{FF2B5EF4-FFF2-40B4-BE49-F238E27FC236}">
                <a16:creationId xmlns:a16="http://schemas.microsoft.com/office/drawing/2014/main" id="{80C6AED0-79E6-211B-3412-E740625EC3CD}"/>
              </a:ext>
            </a:extLst>
          </p:cNvPr>
          <p:cNvCxnSpPr>
            <a:cxnSpLocks/>
          </p:cNvCxnSpPr>
          <p:nvPr/>
        </p:nvCxnSpPr>
        <p:spPr>
          <a:xfrm>
            <a:off x="3647728" y="5834653"/>
            <a:ext cx="16009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1E467326-9654-E26A-35A6-EFF1E4610F0D}"/>
              </a:ext>
            </a:extLst>
          </p:cNvPr>
          <p:cNvSpPr txBox="1"/>
          <p:nvPr/>
        </p:nvSpPr>
        <p:spPr>
          <a:xfrm>
            <a:off x="2318548" y="3171158"/>
            <a:ext cx="1454231"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Heart data</a:t>
            </a:r>
          </a:p>
        </p:txBody>
      </p:sp>
      <p:sp>
        <p:nvSpPr>
          <p:cNvPr id="29" name="TextBox 28">
            <a:extLst>
              <a:ext uri="{FF2B5EF4-FFF2-40B4-BE49-F238E27FC236}">
                <a16:creationId xmlns:a16="http://schemas.microsoft.com/office/drawing/2014/main" id="{5FB46FB9-85D1-B859-B40E-3C837FE11A8D}"/>
              </a:ext>
            </a:extLst>
          </p:cNvPr>
          <p:cNvSpPr txBox="1"/>
          <p:nvPr/>
        </p:nvSpPr>
        <p:spPr>
          <a:xfrm>
            <a:off x="5248675" y="3194679"/>
            <a:ext cx="1872208"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Data pre-processing</a:t>
            </a:r>
          </a:p>
        </p:txBody>
      </p:sp>
      <p:cxnSp>
        <p:nvCxnSpPr>
          <p:cNvPr id="40" name="Straight Arrow Connector 39">
            <a:extLst>
              <a:ext uri="{FF2B5EF4-FFF2-40B4-BE49-F238E27FC236}">
                <a16:creationId xmlns:a16="http://schemas.microsoft.com/office/drawing/2014/main" id="{ADA72BFE-D1F8-2B06-007C-14E72B8C7E29}"/>
              </a:ext>
            </a:extLst>
          </p:cNvPr>
          <p:cNvCxnSpPr>
            <a:cxnSpLocks/>
          </p:cNvCxnSpPr>
          <p:nvPr/>
        </p:nvCxnSpPr>
        <p:spPr>
          <a:xfrm flipV="1">
            <a:off x="7032104" y="5834652"/>
            <a:ext cx="157157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7F141B0D-A5C3-B326-34BA-1BD6A1A837B3}"/>
              </a:ext>
            </a:extLst>
          </p:cNvPr>
          <p:cNvSpPr txBox="1"/>
          <p:nvPr/>
        </p:nvSpPr>
        <p:spPr>
          <a:xfrm>
            <a:off x="8320456" y="3171158"/>
            <a:ext cx="1205924"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Train-Split</a:t>
            </a:r>
          </a:p>
        </p:txBody>
      </p:sp>
      <p:sp>
        <p:nvSpPr>
          <p:cNvPr id="44" name="TextBox 43">
            <a:extLst>
              <a:ext uri="{FF2B5EF4-FFF2-40B4-BE49-F238E27FC236}">
                <a16:creationId xmlns:a16="http://schemas.microsoft.com/office/drawing/2014/main" id="{BEA8F5D9-5851-75F6-0B54-57ECB0F2212D}"/>
              </a:ext>
            </a:extLst>
          </p:cNvPr>
          <p:cNvSpPr txBox="1"/>
          <p:nvPr/>
        </p:nvSpPr>
        <p:spPr>
          <a:xfrm>
            <a:off x="5436029" y="4787233"/>
            <a:ext cx="1380052"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Training model</a:t>
            </a:r>
          </a:p>
        </p:txBody>
      </p:sp>
      <p:sp>
        <p:nvSpPr>
          <p:cNvPr id="46" name="TextBox 45">
            <a:extLst>
              <a:ext uri="{FF2B5EF4-FFF2-40B4-BE49-F238E27FC236}">
                <a16:creationId xmlns:a16="http://schemas.microsoft.com/office/drawing/2014/main" id="{9CCE5EEA-47C0-13F0-69A7-45EE0A1ECC3E}"/>
              </a:ext>
            </a:extLst>
          </p:cNvPr>
          <p:cNvSpPr txBox="1"/>
          <p:nvPr/>
        </p:nvSpPr>
        <p:spPr>
          <a:xfrm>
            <a:off x="2277730" y="6259859"/>
            <a:ext cx="1269753"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New Data</a:t>
            </a:r>
          </a:p>
        </p:txBody>
      </p:sp>
      <p:sp>
        <p:nvSpPr>
          <p:cNvPr id="47" name="TextBox 46">
            <a:extLst>
              <a:ext uri="{FF2B5EF4-FFF2-40B4-BE49-F238E27FC236}">
                <a16:creationId xmlns:a16="http://schemas.microsoft.com/office/drawing/2014/main" id="{5179E616-6029-7BEC-A69C-A487824790D2}"/>
              </a:ext>
            </a:extLst>
          </p:cNvPr>
          <p:cNvSpPr txBox="1"/>
          <p:nvPr/>
        </p:nvSpPr>
        <p:spPr>
          <a:xfrm>
            <a:off x="5550087" y="6379790"/>
            <a:ext cx="1380052"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Trained  model</a:t>
            </a:r>
          </a:p>
        </p:txBody>
      </p:sp>
      <p:sp>
        <p:nvSpPr>
          <p:cNvPr id="48" name="TextBox 47">
            <a:extLst>
              <a:ext uri="{FF2B5EF4-FFF2-40B4-BE49-F238E27FC236}">
                <a16:creationId xmlns:a16="http://schemas.microsoft.com/office/drawing/2014/main" id="{C05F266E-96CA-CA6E-195C-72FE51508B0A}"/>
              </a:ext>
            </a:extLst>
          </p:cNvPr>
          <p:cNvSpPr txBox="1"/>
          <p:nvPr/>
        </p:nvSpPr>
        <p:spPr>
          <a:xfrm>
            <a:off x="8718441" y="5389337"/>
            <a:ext cx="1677888" cy="923330"/>
          </a:xfrm>
          <a:prstGeom prst="rect">
            <a:avLst/>
          </a:prstGeom>
          <a:noFill/>
        </p:spPr>
        <p:txBody>
          <a:bodyPr wrap="square" rtlCol="0">
            <a:spAutoFit/>
          </a:bodyPr>
          <a:lstStyle/>
          <a:p>
            <a:r>
              <a:rPr lang="en-IN" dirty="0">
                <a:solidFill>
                  <a:srgbClr val="002060"/>
                </a:solidFill>
                <a:latin typeface="Times New Roman" panose="02020603050405020304" pitchFamily="18" charset="0"/>
                <a:cs typeface="Times New Roman" panose="02020603050405020304" pitchFamily="18" charset="0"/>
              </a:rPr>
              <a:t>Healthy</a:t>
            </a:r>
          </a:p>
          <a:p>
            <a:r>
              <a:rPr lang="en-IN" dirty="0">
                <a:latin typeface="Times New Roman" panose="02020603050405020304" pitchFamily="18" charset="0"/>
                <a:cs typeface="Times New Roman" panose="02020603050405020304" pitchFamily="18" charset="0"/>
              </a:rPr>
              <a:t>(or)</a:t>
            </a:r>
          </a:p>
          <a:p>
            <a:r>
              <a:rPr lang="en-IN" dirty="0">
                <a:solidFill>
                  <a:srgbClr val="002060"/>
                </a:solidFill>
                <a:latin typeface="Times New Roman" panose="02020603050405020304" pitchFamily="18" charset="0"/>
                <a:cs typeface="Times New Roman" panose="02020603050405020304" pitchFamily="18" charset="0"/>
              </a:rPr>
              <a:t>Heart defect</a:t>
            </a:r>
          </a:p>
        </p:txBody>
      </p:sp>
      <p:sp>
        <p:nvSpPr>
          <p:cNvPr id="49" name="TextBox 48">
            <a:extLst>
              <a:ext uri="{FF2B5EF4-FFF2-40B4-BE49-F238E27FC236}">
                <a16:creationId xmlns:a16="http://schemas.microsoft.com/office/drawing/2014/main" id="{14771275-ABA7-41BF-6E2C-6F9730075E00}"/>
              </a:ext>
            </a:extLst>
          </p:cNvPr>
          <p:cNvSpPr txBox="1"/>
          <p:nvPr/>
        </p:nvSpPr>
        <p:spPr>
          <a:xfrm>
            <a:off x="8795353" y="6317031"/>
            <a:ext cx="1565070" cy="338554"/>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Prediction</a:t>
            </a:r>
          </a:p>
        </p:txBody>
      </p:sp>
    </p:spTree>
    <p:extLst>
      <p:ext uri="{BB962C8B-B14F-4D97-AF65-F5344CB8AC3E}">
        <p14:creationId xmlns:p14="http://schemas.microsoft.com/office/powerpoint/2010/main" val="273862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416" y="116632"/>
            <a:ext cx="10058400" cy="1325563"/>
          </a:xfrm>
        </p:spPr>
        <p:txBody>
          <a:bodyPr/>
          <a:lstStyle/>
          <a:p>
            <a:r>
              <a:rPr lang="en-US" b="1" dirty="0">
                <a:latin typeface="Times New Roman" panose="02020603050405020304" pitchFamily="18" charset="0"/>
                <a:cs typeface="Times New Roman" panose="02020603050405020304" pitchFamily="18" charset="0"/>
              </a:rPr>
              <a:t>Beneficiaries of the project</a:t>
            </a:r>
          </a:p>
        </p:txBody>
      </p:sp>
      <p:sp>
        <p:nvSpPr>
          <p:cNvPr id="3" name="Content Placeholder 2"/>
          <p:cNvSpPr>
            <a:spLocks noGrp="1"/>
          </p:cNvSpPr>
          <p:nvPr>
            <p:ph sz="half" idx="1"/>
          </p:nvPr>
        </p:nvSpPr>
        <p:spPr>
          <a:xfrm>
            <a:off x="1066800" y="1825624"/>
            <a:ext cx="5893296" cy="4575175"/>
          </a:xfrm>
        </p:spPr>
        <p:txBody>
          <a:bodyPr/>
          <a:lstStyle/>
          <a:p>
            <a:r>
              <a:rPr lang="en-IN" b="1" i="0" dirty="0">
                <a:solidFill>
                  <a:srgbClr val="1A1C1E"/>
                </a:solidFill>
                <a:effectLst/>
                <a:latin typeface="Times New Roman" panose="02020603050405020304" pitchFamily="18" charset="0"/>
                <a:cs typeface="Times New Roman" panose="02020603050405020304" pitchFamily="18" charset="0"/>
              </a:rPr>
              <a:t>Patients:</a:t>
            </a:r>
          </a:p>
          <a:p>
            <a:pPr lvl="1"/>
            <a:r>
              <a:rPr lang="en-IN" dirty="0">
                <a:solidFill>
                  <a:srgbClr val="1A1C1E"/>
                </a:solidFill>
                <a:latin typeface="Times New Roman" panose="02020603050405020304" pitchFamily="18" charset="0"/>
                <a:cs typeface="Times New Roman" panose="02020603050405020304" pitchFamily="18" charset="0"/>
              </a:rPr>
              <a:t>Early risk identification, allowing for preventive measures</a:t>
            </a:r>
          </a:p>
          <a:p>
            <a:r>
              <a:rPr lang="en-IN" b="1" i="0" dirty="0">
                <a:solidFill>
                  <a:srgbClr val="1A1C1E"/>
                </a:solidFill>
                <a:effectLst/>
                <a:latin typeface="Times New Roman" panose="02020603050405020304" pitchFamily="18" charset="0"/>
                <a:cs typeface="Times New Roman" panose="02020603050405020304" pitchFamily="18" charset="0"/>
              </a:rPr>
              <a:t>Doctors &amp; clinicians:</a:t>
            </a:r>
          </a:p>
          <a:p>
            <a:pPr lvl="1"/>
            <a:r>
              <a:rPr lang="en-IN" i="0" dirty="0">
                <a:solidFill>
                  <a:srgbClr val="1A1C1E"/>
                </a:solidFill>
                <a:effectLst/>
                <a:latin typeface="Times New Roman" panose="02020603050405020304" pitchFamily="18" charset="0"/>
                <a:cs typeface="Times New Roman" panose="02020603050405020304" pitchFamily="18" charset="0"/>
              </a:rPr>
              <a:t>A decision support tool to aid in diagnosing and assessing stroke risk.</a:t>
            </a:r>
          </a:p>
          <a:p>
            <a:r>
              <a:rPr lang="en-IN" b="1" i="0" dirty="0">
                <a:solidFill>
                  <a:srgbClr val="1A1C1E"/>
                </a:solidFill>
                <a:effectLst/>
                <a:latin typeface="Times New Roman" panose="02020603050405020304" pitchFamily="18" charset="0"/>
                <a:cs typeface="Times New Roman" panose="02020603050405020304" pitchFamily="18" charset="0"/>
              </a:rPr>
              <a:t>Hospitals &amp; Healthcare Providers:</a:t>
            </a:r>
          </a:p>
          <a:p>
            <a:pPr lvl="1"/>
            <a:r>
              <a:rPr lang="en-IN" dirty="0">
                <a:solidFill>
                  <a:srgbClr val="1A1C1E"/>
                </a:solidFill>
                <a:latin typeface="Times New Roman" panose="02020603050405020304" pitchFamily="18" charset="0"/>
                <a:cs typeface="Times New Roman" panose="02020603050405020304" pitchFamily="18" charset="0"/>
              </a:rPr>
              <a:t>Improved resource allocation.</a:t>
            </a:r>
          </a:p>
          <a:p>
            <a:endParaRPr lang="en-IN" i="0" dirty="0">
              <a:solidFill>
                <a:srgbClr val="1A1C1E"/>
              </a:solidFill>
              <a:effectLst/>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4119E04F-233A-9247-2C56-2B2B97BD15E5}"/>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968208" y="2420888"/>
            <a:ext cx="3301008" cy="2868612"/>
          </a:xfrm>
        </p:spPr>
      </p:pic>
    </p:spTree>
    <p:extLst>
      <p:ext uri="{BB962C8B-B14F-4D97-AF65-F5344CB8AC3E}">
        <p14:creationId xmlns:p14="http://schemas.microsoft.com/office/powerpoint/2010/main" val="3948826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Proposed Methodology</a:t>
            </a:r>
          </a:p>
        </p:txBody>
      </p:sp>
      <p:sp>
        <p:nvSpPr>
          <p:cNvPr id="3" name="TextBox 2">
            <a:extLst>
              <a:ext uri="{FF2B5EF4-FFF2-40B4-BE49-F238E27FC236}">
                <a16:creationId xmlns:a16="http://schemas.microsoft.com/office/drawing/2014/main" id="{7685DACE-C399-9F0C-B72F-09F6AE717B89}"/>
              </a:ext>
            </a:extLst>
          </p:cNvPr>
          <p:cNvSpPr txBox="1"/>
          <p:nvPr/>
        </p:nvSpPr>
        <p:spPr>
          <a:xfrm>
            <a:off x="1066800" y="2060848"/>
            <a:ext cx="7992888" cy="4154984"/>
          </a:xfrm>
          <a:prstGeom prst="rect">
            <a:avLst/>
          </a:prstGeom>
          <a:noFill/>
        </p:spPr>
        <p:txBody>
          <a:bodyPr wrap="square" rtlCol="0">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Dataset Acquisition &amp; Understanding.</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Source of Dataset : Kaggle</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Key </a:t>
            </a:r>
            <a:r>
              <a:rPr lang="en-US" sz="2400" dirty="0" err="1">
                <a:latin typeface="Times New Roman" panose="02020603050405020304" pitchFamily="18" charset="0"/>
                <a:cs typeface="Times New Roman" panose="02020603050405020304" pitchFamily="18" charset="0"/>
              </a:rPr>
              <a:t>features:age,gender,bmi,age,avg_BP,etc</a:t>
            </a:r>
            <a:r>
              <a:rPr lang="en-US" sz="24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Data Preprocessing:</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Handling </a:t>
            </a:r>
            <a:r>
              <a:rPr lang="en-US" sz="2400" dirty="0" err="1">
                <a:latin typeface="Times New Roman" panose="02020603050405020304" pitchFamily="18" charset="0"/>
                <a:cs typeface="Times New Roman" panose="02020603050405020304" pitchFamily="18" charset="0"/>
              </a:rPr>
              <a:t>Misssing</a:t>
            </a:r>
            <a:r>
              <a:rPr lang="en-US" sz="2400" dirty="0">
                <a:latin typeface="Times New Roman" panose="02020603050405020304" pitchFamily="18" charset="0"/>
                <a:cs typeface="Times New Roman" panose="02020603050405020304" pitchFamily="18" charset="0"/>
              </a:rPr>
              <a:t> values.</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Feature Scaling Normalization</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Model Implementation:</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Logistic Regression.</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K-Nearest Neighbors (KNN).</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Decision Tree</a:t>
            </a:r>
          </a:p>
          <a:p>
            <a:pPr marL="342900" indent="-342900">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Traing</a:t>
            </a:r>
            <a:r>
              <a:rPr lang="en-US" sz="2400" b="1" dirty="0">
                <a:latin typeface="Times New Roman" panose="02020603050405020304" pitchFamily="18" charset="0"/>
                <a:cs typeface="Times New Roman" panose="02020603050405020304" pitchFamily="18" charset="0"/>
              </a:rPr>
              <a:t> and Evaluation.</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7673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Modules</a:t>
            </a:r>
          </a:p>
        </p:txBody>
      </p:sp>
      <p:sp>
        <p:nvSpPr>
          <p:cNvPr id="4" name="TextBox 3">
            <a:extLst>
              <a:ext uri="{FF2B5EF4-FFF2-40B4-BE49-F238E27FC236}">
                <a16:creationId xmlns:a16="http://schemas.microsoft.com/office/drawing/2014/main" id="{B6DE869F-E960-AA3C-DEC0-7D0ADC880210}"/>
              </a:ext>
            </a:extLst>
          </p:cNvPr>
          <p:cNvSpPr txBox="1"/>
          <p:nvPr/>
        </p:nvSpPr>
        <p:spPr>
          <a:xfrm>
            <a:off x="1036442" y="1865133"/>
            <a:ext cx="8413576" cy="4770537"/>
          </a:xfrm>
          <a:prstGeom prst="rect">
            <a:avLst/>
          </a:prstGeom>
          <a:noFill/>
        </p:spPr>
        <p:txBody>
          <a:bodyPr wrap="square" rtlCol="0">
            <a:spAutoFit/>
          </a:bodyPr>
          <a:lstStyle/>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Data Input &amp; Preprocessing Module</a:t>
            </a:r>
            <a:r>
              <a:rPr lang="en-US" sz="2000" dirty="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Takes raw patient data.</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Performs data Pre-processing.</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Model Training Module:</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Contains implementation of </a:t>
            </a:r>
            <a:r>
              <a:rPr lang="en-US" sz="2000" dirty="0" err="1">
                <a:latin typeface="Times New Roman" panose="02020603050405020304" pitchFamily="18" charset="0"/>
                <a:cs typeface="Times New Roman" panose="02020603050405020304" pitchFamily="18" charset="0"/>
              </a:rPr>
              <a:t>Logistis</a:t>
            </a:r>
            <a:r>
              <a:rPr lang="en-US" sz="2000" dirty="0">
                <a:latin typeface="Times New Roman" panose="02020603050405020304" pitchFamily="18" charset="0"/>
                <a:cs typeface="Times New Roman" panose="02020603050405020304" pitchFamily="18" charset="0"/>
              </a:rPr>
              <a:t> Regression, Decision tree.</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Train the preprocessed dataset.</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Saves the trained models.</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Prediction Module:</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Loads a selected trained model.</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Takes new data as input.</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Evaluation &amp; Reporting:</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Uses test data to valuate and outputs stokes(0/1)</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User Interface:</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Gets input from the user and provides the output</a:t>
            </a:r>
          </a:p>
          <a:p>
            <a:pPr marL="342900" indent="-342900">
              <a:buFont typeface="Arial" panose="020B0604020202020204" pitchFamily="34" charset="0"/>
              <a:buChar char="•"/>
            </a:pP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7100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9D1BD-52C2-37A9-DFAA-5218C94CF47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Algorithms Used</a:t>
            </a: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C85BE58-F297-693F-C27F-AD6CA86A9A61}"/>
              </a:ext>
            </a:extLst>
          </p:cNvPr>
          <p:cNvSpPr txBox="1"/>
          <p:nvPr/>
        </p:nvSpPr>
        <p:spPr>
          <a:xfrm>
            <a:off x="983432" y="1988840"/>
            <a:ext cx="6336704" cy="4247317"/>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LOGISTIC REGRESSION ALGORITHM:</a:t>
            </a:r>
          </a:p>
          <a:p>
            <a:pPr lvl="1" algn="just"/>
            <a:r>
              <a:rPr lang="en-US" dirty="0">
                <a:latin typeface="Times New Roman" panose="02020603050405020304" pitchFamily="18" charset="0"/>
                <a:cs typeface="Times New Roman" panose="02020603050405020304" pitchFamily="18" charset="0"/>
              </a:rPr>
              <a:t>Logistic regression is a supervised machine learning algorithm primarily used for binary classification tasks. It predicts the probability of a data point belonging to a specific class, typically with two possible outcomes.</a:t>
            </a:r>
          </a:p>
          <a:p>
            <a:pPr lvl="1" algn="just"/>
            <a:endParaRPr lang="en-US" dirty="0">
              <a:latin typeface="Times New Roman" panose="02020603050405020304" pitchFamily="18" charset="0"/>
              <a:cs typeface="Times New Roman" panose="02020603050405020304" pitchFamily="18" charset="0"/>
            </a:endParaRPr>
          </a:p>
          <a:p>
            <a:pPr lvl="1" algn="just"/>
            <a:endParaRPr lang="en-US" dirty="0">
              <a:latin typeface="Times New Roman" panose="02020603050405020304" pitchFamily="18" charset="0"/>
              <a:cs typeface="Times New Roman" panose="02020603050405020304" pitchFamily="18" charset="0"/>
            </a:endParaRPr>
          </a:p>
          <a:p>
            <a:pPr lvl="1" algn="just"/>
            <a:endParaRPr lang="en-US" dirty="0">
              <a:latin typeface="Times New Roman" panose="02020603050405020304" pitchFamily="18" charset="0"/>
              <a:cs typeface="Times New Roman" panose="02020603050405020304" pitchFamily="18" charset="0"/>
            </a:endParaRPr>
          </a:p>
          <a:p>
            <a:pPr lvl="1" algn="just"/>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RANDOM FOREST ALGORITHM:</a:t>
            </a:r>
          </a:p>
          <a:p>
            <a:pPr lvl="1"/>
            <a:r>
              <a:rPr lang="en-US" dirty="0">
                <a:latin typeface="Times New Roman" panose="02020603050405020304" pitchFamily="18" charset="0"/>
                <a:cs typeface="Times New Roman" panose="02020603050405020304" pitchFamily="18" charset="0"/>
              </a:rPr>
              <a:t>Random Forest is a powerful supervised machine learning algorithm that uses an ensemble of decision trees to make predictions.</a:t>
            </a:r>
          </a:p>
          <a:p>
            <a:pPr lvl="1"/>
            <a:endParaRPr lang="en-US"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DD38C74-5C10-8FFC-F0EA-5D91F1D157DC}"/>
              </a:ext>
            </a:extLst>
          </p:cNvPr>
          <p:cNvPicPr>
            <a:picLocks noChangeAspect="1"/>
          </p:cNvPicPr>
          <p:nvPr/>
        </p:nvPicPr>
        <p:blipFill>
          <a:blip r:embed="rId2"/>
          <a:stretch>
            <a:fillRect/>
          </a:stretch>
        </p:blipFill>
        <p:spPr>
          <a:xfrm>
            <a:off x="8438768" y="4293096"/>
            <a:ext cx="3096344" cy="1943061"/>
          </a:xfrm>
          <a:prstGeom prst="rect">
            <a:avLst/>
          </a:prstGeom>
        </p:spPr>
      </p:pic>
      <p:pic>
        <p:nvPicPr>
          <p:cNvPr id="6" name="Picture 5">
            <a:extLst>
              <a:ext uri="{FF2B5EF4-FFF2-40B4-BE49-F238E27FC236}">
                <a16:creationId xmlns:a16="http://schemas.microsoft.com/office/drawing/2014/main" id="{EA1166C1-25C5-E90C-B4F2-1EB491DE0592}"/>
              </a:ext>
            </a:extLst>
          </p:cNvPr>
          <p:cNvPicPr>
            <a:picLocks noChangeAspect="1"/>
          </p:cNvPicPr>
          <p:nvPr/>
        </p:nvPicPr>
        <p:blipFill>
          <a:blip r:embed="rId3"/>
          <a:stretch>
            <a:fillRect/>
          </a:stretch>
        </p:blipFill>
        <p:spPr>
          <a:xfrm>
            <a:off x="8438768" y="2132856"/>
            <a:ext cx="3012911" cy="1743075"/>
          </a:xfrm>
          <a:prstGeom prst="rect">
            <a:avLst/>
          </a:prstGeom>
        </p:spPr>
      </p:pic>
    </p:spTree>
    <p:extLst>
      <p:ext uri="{BB962C8B-B14F-4D97-AF65-F5344CB8AC3E}">
        <p14:creationId xmlns:p14="http://schemas.microsoft.com/office/powerpoint/2010/main" val="952609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F0293-4ABE-7999-52CF-7F0FE9894C0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Algorithms used</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9218E78-B2A7-B877-A270-C33DCD55F637}"/>
              </a:ext>
            </a:extLst>
          </p:cNvPr>
          <p:cNvSpPr txBox="1"/>
          <p:nvPr/>
        </p:nvSpPr>
        <p:spPr>
          <a:xfrm>
            <a:off x="1066800" y="2132856"/>
            <a:ext cx="6757392" cy="4247317"/>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K-NEAREST NEIGHBOR(KNN)ALGORITHM:</a:t>
            </a:r>
          </a:p>
          <a:p>
            <a:pPr lvl="1"/>
            <a:r>
              <a:rPr lang="en-US" dirty="0">
                <a:latin typeface="Times New Roman" panose="02020603050405020304" pitchFamily="18" charset="0"/>
                <a:cs typeface="Times New Roman" panose="02020603050405020304" pitchFamily="18" charset="0"/>
              </a:rPr>
              <a:t>The k-nearest neighbors (KNN) algorithm is a non-parametric, supervised learning classifier, which uses proximity to make classifications or predictions about the grouping of an individual data point</a:t>
            </a:r>
          </a:p>
          <a:p>
            <a:pPr lvl="1"/>
            <a:endParaRPr lang="en-US" dirty="0">
              <a:latin typeface="Times New Roman" panose="02020603050405020304" pitchFamily="18" charset="0"/>
              <a:cs typeface="Times New Roman" panose="02020603050405020304" pitchFamily="18" charset="0"/>
            </a:endParaRPr>
          </a:p>
          <a:p>
            <a:pPr lvl="1"/>
            <a:endParaRPr lang="en-US" b="1" dirty="0">
              <a:latin typeface="Times New Roman" panose="02020603050405020304" pitchFamily="18" charset="0"/>
              <a:cs typeface="Times New Roman" panose="02020603050405020304" pitchFamily="18" charset="0"/>
            </a:endParaRPr>
          </a:p>
          <a:p>
            <a:pPr lvl="1"/>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DECISION TREE CLASSIFICATION ALGORITHM:</a:t>
            </a:r>
          </a:p>
          <a:p>
            <a:pPr lvl="1"/>
            <a:r>
              <a:rPr lang="en-US" dirty="0">
                <a:latin typeface="Times New Roman" panose="02020603050405020304" pitchFamily="18" charset="0"/>
                <a:cs typeface="Times New Roman" panose="02020603050405020304" pitchFamily="18" charset="0"/>
              </a:rPr>
              <a:t>A decision tree in machine learning is a flowchart-like structure used for both classification and regression tasks. It breaks down complex decisions into simpler, hierarchical steps, making it easy to understand and interpret</a:t>
            </a: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66283B54-4140-4983-A05A-036678C4BCA5}"/>
              </a:ext>
            </a:extLst>
          </p:cNvPr>
          <p:cNvPicPr>
            <a:picLocks noChangeAspect="1"/>
          </p:cNvPicPr>
          <p:nvPr/>
        </p:nvPicPr>
        <p:blipFill>
          <a:blip r:embed="rId2"/>
          <a:stretch>
            <a:fillRect/>
          </a:stretch>
        </p:blipFill>
        <p:spPr>
          <a:xfrm>
            <a:off x="8760296" y="2130398"/>
            <a:ext cx="2849950" cy="1946674"/>
          </a:xfrm>
          <a:prstGeom prst="rect">
            <a:avLst/>
          </a:prstGeom>
        </p:spPr>
      </p:pic>
      <p:pic>
        <p:nvPicPr>
          <p:cNvPr id="6" name="Picture 5">
            <a:extLst>
              <a:ext uri="{FF2B5EF4-FFF2-40B4-BE49-F238E27FC236}">
                <a16:creationId xmlns:a16="http://schemas.microsoft.com/office/drawing/2014/main" id="{E60DA3A7-F244-0044-B9BF-1E66B6A739A5}"/>
              </a:ext>
            </a:extLst>
          </p:cNvPr>
          <p:cNvPicPr>
            <a:picLocks noChangeAspect="1"/>
          </p:cNvPicPr>
          <p:nvPr/>
        </p:nvPicPr>
        <p:blipFill>
          <a:blip r:embed="rId3"/>
          <a:stretch>
            <a:fillRect/>
          </a:stretch>
        </p:blipFill>
        <p:spPr>
          <a:xfrm>
            <a:off x="8743221" y="4437112"/>
            <a:ext cx="2867025" cy="1734691"/>
          </a:xfrm>
          <a:prstGeom prst="rect">
            <a:avLst/>
          </a:prstGeom>
        </p:spPr>
      </p:pic>
    </p:spTree>
    <p:extLst>
      <p:ext uri="{BB962C8B-B14F-4D97-AF65-F5344CB8AC3E}">
        <p14:creationId xmlns:p14="http://schemas.microsoft.com/office/powerpoint/2010/main" val="489371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91D18-E8DE-1E2A-413A-EC11D4EB7589}"/>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2307864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3A3834-E37A-C443-C97A-3997B9352890}"/>
              </a:ext>
            </a:extLst>
          </p:cNvPr>
          <p:cNvSpPr/>
          <p:nvPr/>
        </p:nvSpPr>
        <p:spPr>
          <a:xfrm>
            <a:off x="1631504" y="2967335"/>
            <a:ext cx="3263650" cy="923330"/>
          </a:xfrm>
          <a:prstGeom prst="rect">
            <a:avLst/>
          </a:prstGeom>
          <a:noFill/>
        </p:spPr>
        <p:txBody>
          <a:bodyPr wrap="none" lIns="91440" tIns="45720" rIns="91440" bIns="45720">
            <a:spAutoFit/>
          </a:bodyPr>
          <a:lstStyle/>
          <a:p>
            <a:pPr algn="ctr"/>
            <a:r>
              <a:rPr lang="en-US" sz="5400" dirty="0">
                <a:ln w="0"/>
                <a:solidFill>
                  <a:schemeClr val="accent1"/>
                </a:solidFill>
                <a:effectLst>
                  <a:reflection blurRad="6350" stA="53000" endA="300" endPos="35500" dir="5400000" sy="-90000" algn="bl" rotWithShape="0"/>
                </a:effectLst>
              </a:rPr>
              <a:t>Thank You</a:t>
            </a:r>
            <a:endParaRPr lang="en-US" sz="5400" b="0" cap="none" spc="0" dirty="0">
              <a:ln w="0"/>
              <a:solidFill>
                <a:schemeClr val="accent1"/>
              </a:solidFill>
              <a:effectLst>
                <a:reflection blurRad="6350" stA="53000" endA="300" endPos="35500" dir="5400000" sy="-90000" algn="bl" rotWithShape="0"/>
              </a:effectLst>
            </a:endParaRPr>
          </a:p>
        </p:txBody>
      </p:sp>
    </p:spTree>
    <p:extLst>
      <p:ext uri="{BB962C8B-B14F-4D97-AF65-F5344CB8AC3E}">
        <p14:creationId xmlns:p14="http://schemas.microsoft.com/office/powerpoint/2010/main" val="4248453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edical Design 16x9">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41.potx" id="{D7485564-6666-4DDB-B0D3-55F6E694D6E5}" vid="{6E950D30-6FC6-4411-BCFF-468AD9ECA7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Medical design presentation (widescreen)</Template>
  <TotalTime>202</TotalTime>
  <Words>560</Words>
  <Application>Microsoft Office PowerPoint</Application>
  <PresentationFormat>Widescreen</PresentationFormat>
  <Paragraphs>91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Franklin Gothic Medium</vt:lpstr>
      <vt:lpstr>Times New Roman</vt:lpstr>
      <vt:lpstr>Medical Design 16x9</vt:lpstr>
      <vt:lpstr>Heart Stroke Prediction System</vt:lpstr>
      <vt:lpstr>Field of study</vt:lpstr>
      <vt:lpstr>Abstract</vt:lpstr>
      <vt:lpstr>Architecture</vt:lpstr>
      <vt:lpstr>Beneficiaries of the project</vt:lpstr>
      <vt:lpstr>Proposed Methodology</vt:lpstr>
      <vt:lpstr>Modules</vt:lpstr>
      <vt:lpstr>Algorithms Used</vt:lpstr>
      <vt:lpstr>Algorithms used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 Stroke Prediction System</dc:title>
  <dc:creator>Pavan Goud</dc:creator>
  <cp:lastModifiedBy>Pavan Goud</cp:lastModifiedBy>
  <cp:revision>9</cp:revision>
  <dcterms:created xsi:type="dcterms:W3CDTF">2025-05-04T14:00:08Z</dcterms:created>
  <dcterms:modified xsi:type="dcterms:W3CDTF">2025-06-15T15:00:45Z</dcterms:modified>
</cp:coreProperties>
</file>